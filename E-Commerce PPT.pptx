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68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7E74557F-B52D-40DC-BC9E-44F67643CA2E}" type="datetimeFigureOut">
              <a:rPr lang="en-IN" smtClean="0"/>
              <a:t>22-02-2026</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8B0F9563-5CE1-41C9-9C38-2CEC867A0DE4}"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5922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74557F-B52D-40DC-BC9E-44F67643CA2E}"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651267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74557F-B52D-40DC-BC9E-44F67643CA2E}"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0F9563-5CE1-41C9-9C38-2CEC867A0DE4}"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2528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74557F-B52D-40DC-BC9E-44F67643CA2E}"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83678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74557F-B52D-40DC-BC9E-44F67643CA2E}" type="datetimeFigureOut">
              <a:rPr lang="en-IN" smtClean="0"/>
              <a:t>22-02-2026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4265955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74557F-B52D-40DC-BC9E-44F67643CA2E}" type="datetimeFigureOut">
              <a:rPr lang="en-IN" smtClean="0"/>
              <a:t>22-02-2026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3396271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74557F-B52D-40DC-BC9E-44F67643CA2E}" type="datetimeFigureOut">
              <a:rPr lang="en-IN" smtClean="0"/>
              <a:t>22-02-2026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4203782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74557F-B52D-40DC-BC9E-44F67643CA2E}"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104581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74557F-B52D-40DC-BC9E-44F67643CA2E}"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1605944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74557F-B52D-40DC-BC9E-44F67643CA2E}"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1959762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74557F-B52D-40DC-BC9E-44F67643CA2E}"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0F9563-5CE1-41C9-9C38-2CEC867A0DE4}" type="slidenum">
              <a:rPr lang="en-IN" smtClean="0"/>
              <a:t>‹#›</a:t>
            </a:fld>
            <a:endParaRPr lang="en-IN"/>
          </a:p>
        </p:txBody>
      </p:sp>
    </p:spTree>
    <p:extLst>
      <p:ext uri="{BB962C8B-B14F-4D97-AF65-F5344CB8AC3E}">
        <p14:creationId xmlns:p14="http://schemas.microsoft.com/office/powerpoint/2010/main" val="1274513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7E74557F-B52D-40DC-BC9E-44F67643CA2E}" type="datetimeFigureOut">
              <a:rPr lang="en-IN" smtClean="0"/>
              <a:t>22-02-2026</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8B0F9563-5CE1-41C9-9C38-2CEC867A0DE4}" type="slidenum">
              <a:rPr lang="en-IN" smtClean="0"/>
              <a:t>‹#›</a:t>
            </a:fld>
            <a:endParaRPr lang="en-IN"/>
          </a:p>
        </p:txBody>
      </p:sp>
    </p:spTree>
    <p:extLst>
      <p:ext uri="{BB962C8B-B14F-4D97-AF65-F5344CB8AC3E}">
        <p14:creationId xmlns:p14="http://schemas.microsoft.com/office/powerpoint/2010/main" val="1337907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54DFCDC-D4DE-5108-FF26-F3AF296B309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2">
            <a:extLst>
              <a:ext uri="{FF2B5EF4-FFF2-40B4-BE49-F238E27FC236}">
                <a16:creationId xmlns:a16="http://schemas.microsoft.com/office/drawing/2014/main" id="{78847710-964A-6B19-0BBF-2ECFD1EF2343}"/>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137517D1-411E-B845-054C-A711044F1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50073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8FF1-D49E-0EA4-7C0D-8480CA65F652}"/>
              </a:ext>
            </a:extLst>
          </p:cNvPr>
          <p:cNvSpPr>
            <a:spLocks noGrp="1"/>
          </p:cNvSpPr>
          <p:nvPr>
            <p:ph type="title"/>
          </p:nvPr>
        </p:nvSpPr>
        <p:spPr>
          <a:xfrm>
            <a:off x="1143000" y="281796"/>
            <a:ext cx="9875520" cy="1029419"/>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Agenda</a:t>
            </a:r>
            <a:endParaRPr lang="en-IN" dirty="0">
              <a:solidFill>
                <a:srgbClr val="0C6890"/>
              </a:solidFill>
            </a:endParaRPr>
          </a:p>
        </p:txBody>
      </p:sp>
      <p:sp>
        <p:nvSpPr>
          <p:cNvPr id="3" name="Content Placeholder 2">
            <a:extLst>
              <a:ext uri="{FF2B5EF4-FFF2-40B4-BE49-F238E27FC236}">
                <a16:creationId xmlns:a16="http://schemas.microsoft.com/office/drawing/2014/main" id="{01BD0818-72F9-705A-FCF7-9906D9C2E32A}"/>
              </a:ext>
            </a:extLst>
          </p:cNvPr>
          <p:cNvSpPr>
            <a:spLocks noGrp="1"/>
          </p:cNvSpPr>
          <p:nvPr>
            <p:ph idx="1"/>
          </p:nvPr>
        </p:nvSpPr>
        <p:spPr>
          <a:xfrm>
            <a:off x="5078083" y="1736784"/>
            <a:ext cx="5845774" cy="4359215"/>
          </a:xfrm>
        </p:spPr>
        <p:txBody>
          <a:bodyPr>
            <a:noAutofit/>
          </a:bodyPr>
          <a:lstStyle/>
          <a:p>
            <a:pPr marL="285750" indent="-285750">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285750" indent="-285750">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Description</a:t>
            </a:r>
          </a:p>
          <a:p>
            <a:pPr marL="285750" indent="-285750">
              <a:lnSpc>
                <a:spcPct val="2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Objective Key Metrics and Visualizations</a:t>
            </a:r>
          </a:p>
          <a:p>
            <a:pPr marL="285750" indent="-285750">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Subjective Question for Insights</a:t>
            </a:r>
          </a:p>
          <a:p>
            <a:endParaRPr lang="en-IN" sz="2400" dirty="0"/>
          </a:p>
        </p:txBody>
      </p:sp>
      <p:pic>
        <p:nvPicPr>
          <p:cNvPr id="4" name="Picture 2">
            <a:extLst>
              <a:ext uri="{FF2B5EF4-FFF2-40B4-BE49-F238E27FC236}">
                <a16:creationId xmlns:a16="http://schemas.microsoft.com/office/drawing/2014/main" id="{E2274FCC-9075-39A6-4FDC-D79CA1A528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277" y="2218509"/>
            <a:ext cx="3331641" cy="3716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407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90DAD-6542-A0B9-D7B7-655ACECD0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1E199-10E4-6DC2-644F-5681F977CA27}"/>
              </a:ext>
            </a:extLst>
          </p:cNvPr>
          <p:cNvSpPr>
            <a:spLocks noGrp="1"/>
          </p:cNvSpPr>
          <p:nvPr>
            <p:ph type="title"/>
          </p:nvPr>
        </p:nvSpPr>
        <p:spPr>
          <a:xfrm>
            <a:off x="1143000" y="281796"/>
            <a:ext cx="9875520" cy="1029419"/>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Problem Statement</a:t>
            </a:r>
            <a:endParaRPr lang="en-IN" dirty="0">
              <a:solidFill>
                <a:srgbClr val="0C6890"/>
              </a:solidFill>
            </a:endParaRPr>
          </a:p>
        </p:txBody>
      </p:sp>
      <p:sp>
        <p:nvSpPr>
          <p:cNvPr id="3" name="Content Placeholder 2">
            <a:extLst>
              <a:ext uri="{FF2B5EF4-FFF2-40B4-BE49-F238E27FC236}">
                <a16:creationId xmlns:a16="http://schemas.microsoft.com/office/drawing/2014/main" id="{6583B5DC-8742-1AB7-8FBB-BD9A430DC2E3}"/>
              </a:ext>
            </a:extLst>
          </p:cNvPr>
          <p:cNvSpPr>
            <a:spLocks noGrp="1"/>
          </p:cNvSpPr>
          <p:nvPr>
            <p:ph idx="1"/>
          </p:nvPr>
        </p:nvSpPr>
        <p:spPr>
          <a:xfrm>
            <a:off x="4859547" y="1368725"/>
            <a:ext cx="6458310" cy="4727274"/>
          </a:xfrm>
        </p:spPr>
        <p:txBody>
          <a:bodyPr>
            <a:noAutofit/>
          </a:bodyPr>
          <a:lstStyle/>
          <a:p>
            <a:pPr marL="0" indent="0" algn="just">
              <a:lnSpc>
                <a:spcPct val="200000"/>
              </a:lnSpc>
              <a:buNone/>
            </a:pPr>
            <a:r>
              <a:rPr lang="en-US" sz="2000" dirty="0">
                <a:solidFill>
                  <a:schemeClr val="tx1"/>
                </a:solidFill>
                <a:latin typeface="Times New Roman" panose="02020603050405020304" pitchFamily="18" charset="0"/>
                <a:cs typeface="Times New Roman" panose="02020603050405020304" pitchFamily="18" charset="0"/>
              </a:rPr>
              <a:t>You are working as a business analyst at Amazon, a company currently performing well. The stakeholders wish to maintain this level of performance and seek improvement. For this purpose, they want to devise new strategies. You are part of a team exploring new ways to benefit customers, such as offering more discounts and Prime membership perks. Could you suggest additional methods to identify and reward customers and enhance their shopping experience?</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5" name="Picture 4" descr="Trendy float design of problem statement icon vector">
            <a:extLst>
              <a:ext uri="{FF2B5EF4-FFF2-40B4-BE49-F238E27FC236}">
                <a16:creationId xmlns:a16="http://schemas.microsoft.com/office/drawing/2014/main" id="{D140E68E-4E94-E8DB-2F5F-FCD656C70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770" y="2065487"/>
            <a:ext cx="333375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537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977DB-24C5-D8AF-ED30-C0C7C027D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AD8D1-63F2-ED74-2841-9EDA7D923C70}"/>
              </a:ext>
            </a:extLst>
          </p:cNvPr>
          <p:cNvSpPr>
            <a:spLocks noGrp="1"/>
          </p:cNvSpPr>
          <p:nvPr>
            <p:ph type="title"/>
          </p:nvPr>
        </p:nvSpPr>
        <p:spPr>
          <a:xfrm>
            <a:off x="1143000" y="281796"/>
            <a:ext cx="9875520" cy="1029419"/>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Data Overview</a:t>
            </a:r>
          </a:p>
        </p:txBody>
      </p:sp>
      <p:sp>
        <p:nvSpPr>
          <p:cNvPr id="3" name="Content Placeholder 2">
            <a:extLst>
              <a:ext uri="{FF2B5EF4-FFF2-40B4-BE49-F238E27FC236}">
                <a16:creationId xmlns:a16="http://schemas.microsoft.com/office/drawing/2014/main" id="{7085750F-6875-4987-3CC8-2B18DC9E52BF}"/>
              </a:ext>
            </a:extLst>
          </p:cNvPr>
          <p:cNvSpPr>
            <a:spLocks noGrp="1"/>
          </p:cNvSpPr>
          <p:nvPr>
            <p:ph idx="1"/>
          </p:nvPr>
        </p:nvSpPr>
        <p:spPr>
          <a:xfrm>
            <a:off x="879894" y="1236453"/>
            <a:ext cx="10437963" cy="1426234"/>
          </a:xfrm>
        </p:spPr>
        <p:txBody>
          <a:bodyPr>
            <a:noAutofit/>
          </a:bodyPr>
          <a:lstStyle/>
          <a:p>
            <a:pPr marL="0" indent="0" algn="just">
              <a:lnSpc>
                <a:spcPct val="200000"/>
              </a:lnSpc>
              <a:buNone/>
            </a:pPr>
            <a:r>
              <a:rPr lang="en-IN" sz="2000" dirty="0">
                <a:solidFill>
                  <a:schemeClr val="tx1"/>
                </a:solidFill>
                <a:latin typeface="Times New Roman" panose="02020603050405020304" pitchFamily="18" charset="0"/>
                <a:cs typeface="Times New Roman" panose="02020603050405020304" pitchFamily="18" charset="0"/>
              </a:rPr>
              <a:t>Dataset: Orders and Customers</a:t>
            </a:r>
          </a:p>
          <a:p>
            <a:pPr marL="0" indent="0" algn="just">
              <a:lnSpc>
                <a:spcPct val="200000"/>
              </a:lnSpc>
              <a:buNone/>
            </a:pPr>
            <a:r>
              <a:rPr lang="en-IN" sz="2000" dirty="0">
                <a:solidFill>
                  <a:schemeClr val="tx1"/>
                </a:solidFill>
                <a:latin typeface="Times New Roman" panose="02020603050405020304" pitchFamily="18" charset="0"/>
                <a:cs typeface="Times New Roman" panose="02020603050405020304" pitchFamily="18" charset="0"/>
              </a:rPr>
              <a:t>Dataset size: 1.13 </a:t>
            </a:r>
            <a:r>
              <a:rPr lang="en-IN" sz="2000" dirty="0" err="1">
                <a:solidFill>
                  <a:schemeClr val="tx1"/>
                </a:solidFill>
                <a:latin typeface="Times New Roman" panose="02020603050405020304" pitchFamily="18" charset="0"/>
                <a:cs typeface="Times New Roman" panose="02020603050405020304" pitchFamily="18" charset="0"/>
              </a:rPr>
              <a:t>lahk</a:t>
            </a:r>
            <a:r>
              <a:rPr lang="en-IN" sz="2000" dirty="0">
                <a:solidFill>
                  <a:schemeClr val="tx1"/>
                </a:solidFill>
                <a:latin typeface="Times New Roman" panose="02020603050405020304" pitchFamily="18" charset="0"/>
                <a:cs typeface="Times New Roman" panose="02020603050405020304" pitchFamily="18" charset="0"/>
              </a:rPr>
              <a:t> rows</a:t>
            </a:r>
          </a:p>
        </p:txBody>
      </p:sp>
      <p:pic>
        <p:nvPicPr>
          <p:cNvPr id="2050" name="Picture 2">
            <a:extLst>
              <a:ext uri="{FF2B5EF4-FFF2-40B4-BE49-F238E27FC236}">
                <a16:creationId xmlns:a16="http://schemas.microsoft.com/office/drawing/2014/main" id="{732D9ABB-971F-52C1-05DD-479F07442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336" y="2794958"/>
            <a:ext cx="11047562" cy="3640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9558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1CA9E-8F3C-8600-5B8E-2B73BC2E9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EF156-3C1F-AADD-791A-5EA0CF338B2C}"/>
              </a:ext>
            </a:extLst>
          </p:cNvPr>
          <p:cNvSpPr>
            <a:spLocks noGrp="1"/>
          </p:cNvSpPr>
          <p:nvPr>
            <p:ph type="title"/>
          </p:nvPr>
        </p:nvSpPr>
        <p:spPr>
          <a:xfrm>
            <a:off x="1143000" y="281796"/>
            <a:ext cx="9875520" cy="1029419"/>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Data Cleaning &amp; Preparation</a:t>
            </a:r>
          </a:p>
        </p:txBody>
      </p:sp>
      <p:sp>
        <p:nvSpPr>
          <p:cNvPr id="3" name="Content Placeholder 2">
            <a:extLst>
              <a:ext uri="{FF2B5EF4-FFF2-40B4-BE49-F238E27FC236}">
                <a16:creationId xmlns:a16="http://schemas.microsoft.com/office/drawing/2014/main" id="{580B4141-AA3A-938D-BE8B-80DD6F390287}"/>
              </a:ext>
            </a:extLst>
          </p:cNvPr>
          <p:cNvSpPr>
            <a:spLocks noGrp="1"/>
          </p:cNvSpPr>
          <p:nvPr>
            <p:ph idx="1"/>
          </p:nvPr>
        </p:nvSpPr>
        <p:spPr>
          <a:xfrm>
            <a:off x="879894" y="1236452"/>
            <a:ext cx="10437963" cy="5066581"/>
          </a:xfrm>
        </p:spPr>
        <p:txBody>
          <a:bodyPr>
            <a:noAutofit/>
          </a:bodyPr>
          <a:lstStyle/>
          <a:p>
            <a:pPr marL="0" indent="0" algn="just">
              <a:lnSpc>
                <a:spcPct val="200000"/>
              </a:lnSpc>
              <a:buNone/>
            </a:pPr>
            <a:r>
              <a:rPr lang="en-US" sz="1700" dirty="0">
                <a:solidFill>
                  <a:schemeClr val="tx1"/>
                </a:solidFill>
                <a:latin typeface="Times New Roman" panose="02020603050405020304" pitchFamily="18" charset="0"/>
                <a:cs typeface="Times New Roman" panose="02020603050405020304" pitchFamily="18" charset="0"/>
              </a:rPr>
              <a:t>The data cleaning and preparation process was carried out to ensure accuracy, consistency, and reliability of the dataset before analysis. Missing values and empty records were identified and removed to avoid incorrect results. Data types were standardized across columns such as dates, numerical values, and categorical fields to support proper calculations and visualizations. Unnecessary and duplicate columns were removed, and column names were renamed for better clarity and understanding. Rows containing invalid or irrelevant data were filtered out to maintain data quality. Additional conditional columns were created to support customer segmentation and analytical requirements. Column order was reorganized to improve structure and readability of the dataset. Relationships between tables were validated using </a:t>
            </a:r>
            <a:r>
              <a:rPr lang="en-US" sz="1700" dirty="0" err="1">
                <a:solidFill>
                  <a:schemeClr val="tx1"/>
                </a:solidFill>
                <a:latin typeface="Times New Roman" panose="02020603050405020304" pitchFamily="18" charset="0"/>
                <a:cs typeface="Times New Roman" panose="02020603050405020304" pitchFamily="18" charset="0"/>
              </a:rPr>
              <a:t>CustomerID</a:t>
            </a:r>
            <a:r>
              <a:rPr lang="en-US" sz="1700" dirty="0">
                <a:solidFill>
                  <a:schemeClr val="tx1"/>
                </a:solidFill>
                <a:latin typeface="Times New Roman" panose="02020603050405020304" pitchFamily="18" charset="0"/>
                <a:cs typeface="Times New Roman" panose="02020603050405020304" pitchFamily="18" charset="0"/>
              </a:rPr>
              <a:t> to ensure accurate data modeling. Overall, these steps transformed the raw data into a clean, structured, and analysis-ready dataset suitable for building reliable Power BI dashboards and generating meaningful business insights.</a:t>
            </a:r>
            <a:endParaRPr lang="en-IN" sz="1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3967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4ACB4-FBA4-F1D8-B9A6-6F858BDA5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F0FD3E-C5B4-20ED-E38D-842B93BBA706}"/>
              </a:ext>
            </a:extLst>
          </p:cNvPr>
          <p:cNvSpPr>
            <a:spLocks noGrp="1"/>
          </p:cNvSpPr>
          <p:nvPr>
            <p:ph type="title"/>
          </p:nvPr>
        </p:nvSpPr>
        <p:spPr>
          <a:xfrm>
            <a:off x="1143000" y="281796"/>
            <a:ext cx="9875520" cy="1029419"/>
          </a:xfrm>
        </p:spPr>
        <p:txBody>
          <a:bodyPr>
            <a:normAutofit/>
          </a:bodyPr>
          <a:lstStyle/>
          <a:p>
            <a:pPr algn="ctr"/>
            <a:r>
              <a:rPr lang="en-IN" b="1" dirty="0">
                <a:latin typeface="Times New Roman" panose="02020603050405020304" pitchFamily="18" charset="0"/>
                <a:cs typeface="Times New Roman" panose="02020603050405020304" pitchFamily="18" charset="0"/>
              </a:rPr>
              <a:t>Key Metrics</a:t>
            </a:r>
            <a:endParaRPr lang="en-IN" b="1" dirty="0">
              <a:solidFill>
                <a:srgbClr val="0C689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F90B7F4-37AF-8E98-7A55-BD76733202B3}"/>
              </a:ext>
            </a:extLst>
          </p:cNvPr>
          <p:cNvPicPr>
            <a:picLocks noChangeAspect="1"/>
          </p:cNvPicPr>
          <p:nvPr/>
        </p:nvPicPr>
        <p:blipFill>
          <a:blip r:embed="rId2"/>
          <a:stretch>
            <a:fillRect/>
          </a:stretch>
        </p:blipFill>
        <p:spPr>
          <a:xfrm>
            <a:off x="586596" y="1357223"/>
            <a:ext cx="10921042" cy="4928558"/>
          </a:xfrm>
          <a:prstGeom prst="rect">
            <a:avLst/>
          </a:prstGeom>
        </p:spPr>
      </p:pic>
    </p:spTree>
    <p:extLst>
      <p:ext uri="{BB962C8B-B14F-4D97-AF65-F5344CB8AC3E}">
        <p14:creationId xmlns:p14="http://schemas.microsoft.com/office/powerpoint/2010/main" val="1279411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AEB6B-F757-745C-7A4D-3710B5712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5838A-FC72-019F-0864-5BEBF5F98D93}"/>
              </a:ext>
            </a:extLst>
          </p:cNvPr>
          <p:cNvSpPr>
            <a:spLocks noGrp="1"/>
          </p:cNvSpPr>
          <p:nvPr>
            <p:ph type="title"/>
          </p:nvPr>
        </p:nvSpPr>
        <p:spPr>
          <a:xfrm>
            <a:off x="1143000" y="281796"/>
            <a:ext cx="9875520" cy="879895"/>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Total Revenue by Year</a:t>
            </a:r>
          </a:p>
        </p:txBody>
      </p:sp>
      <p:sp>
        <p:nvSpPr>
          <p:cNvPr id="3" name="Content Placeholder 2">
            <a:extLst>
              <a:ext uri="{FF2B5EF4-FFF2-40B4-BE49-F238E27FC236}">
                <a16:creationId xmlns:a16="http://schemas.microsoft.com/office/drawing/2014/main" id="{B52041B9-5FE4-314D-F1A0-BDB76CAB3DA9}"/>
              </a:ext>
            </a:extLst>
          </p:cNvPr>
          <p:cNvSpPr>
            <a:spLocks noGrp="1"/>
          </p:cNvSpPr>
          <p:nvPr>
            <p:ph idx="1"/>
          </p:nvPr>
        </p:nvSpPr>
        <p:spPr>
          <a:xfrm>
            <a:off x="5871713" y="1161692"/>
            <a:ext cx="5446144" cy="5141342"/>
          </a:xfrm>
        </p:spPr>
        <p:txBody>
          <a:bodyPr>
            <a:noAutofit/>
          </a:bodyPr>
          <a:lstStyle/>
          <a:p>
            <a:pPr marL="285750" indent="-285750" algn="just">
              <a:lnSpc>
                <a:spcPct val="150000"/>
              </a:lnSpc>
            </a:pPr>
            <a:r>
              <a:rPr lang="en-US" sz="1700" dirty="0">
                <a:solidFill>
                  <a:schemeClr val="tx1"/>
                </a:solidFill>
                <a:latin typeface="Times New Roman" panose="02020603050405020304" pitchFamily="18" charset="0"/>
                <a:cs typeface="Times New Roman" panose="02020603050405020304" pitchFamily="18" charset="0"/>
              </a:rPr>
              <a:t>The revenue remained relatively stable between 2015 and 2019, fluctuating around the 16M–17M range without significant growth.</a:t>
            </a:r>
          </a:p>
          <a:p>
            <a:pPr marL="285750" indent="-285750" algn="just">
              <a:lnSpc>
                <a:spcPct val="150000"/>
              </a:lnSpc>
            </a:pPr>
            <a:r>
              <a:rPr lang="en-US" sz="1700" dirty="0">
                <a:solidFill>
                  <a:schemeClr val="tx1"/>
                </a:solidFill>
                <a:latin typeface="Times New Roman" panose="02020603050405020304" pitchFamily="18" charset="0"/>
                <a:cs typeface="Times New Roman" panose="02020603050405020304" pitchFamily="18" charset="0"/>
              </a:rPr>
              <a:t>The most significant change occurred in 2020, where revenue sharply increased to 24M, marking the highest revenue recorded in the given period.</a:t>
            </a:r>
          </a:p>
          <a:p>
            <a:pPr marL="285750" indent="-285750" algn="just">
              <a:lnSpc>
                <a:spcPct val="150000"/>
              </a:lnSpc>
            </a:pPr>
            <a:r>
              <a:rPr lang="en-US" sz="1700" dirty="0">
                <a:solidFill>
                  <a:schemeClr val="tx1"/>
                </a:solidFill>
                <a:latin typeface="Times New Roman" panose="02020603050405020304" pitchFamily="18" charset="0"/>
                <a:cs typeface="Times New Roman" panose="02020603050405020304" pitchFamily="18" charset="0"/>
              </a:rPr>
              <a:t>The strong jump in 2020 suggests improved sales strategy, higher customer demand, better product performance, or expanded market reach.</a:t>
            </a:r>
          </a:p>
          <a:p>
            <a:pPr marL="285750" indent="-285750" algn="just">
              <a:lnSpc>
                <a:spcPct val="150000"/>
              </a:lnSpc>
            </a:pPr>
            <a:r>
              <a:rPr lang="en-US" sz="1700" dirty="0">
                <a:solidFill>
                  <a:schemeClr val="tx1"/>
                </a:solidFill>
                <a:latin typeface="Times New Roman" panose="02020603050405020304" pitchFamily="18" charset="0"/>
                <a:cs typeface="Times New Roman" panose="02020603050405020304" pitchFamily="18" charset="0"/>
              </a:rPr>
              <a:t>Overall, the company maintained stable performance for five years and achieved substantial growth in the final year, indicating strong potential for future expansion.</a:t>
            </a:r>
            <a:endParaRPr lang="en-IN" sz="1700"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52C01F7-07BD-05C8-61C0-D275E42CE736}"/>
              </a:ext>
            </a:extLst>
          </p:cNvPr>
          <p:cNvPicPr>
            <a:picLocks noChangeAspect="1"/>
          </p:cNvPicPr>
          <p:nvPr/>
        </p:nvPicPr>
        <p:blipFill>
          <a:blip r:embed="rId2"/>
          <a:stretch>
            <a:fillRect/>
          </a:stretch>
        </p:blipFill>
        <p:spPr>
          <a:xfrm>
            <a:off x="442823" y="1564258"/>
            <a:ext cx="5089585" cy="4555930"/>
          </a:xfrm>
          <a:prstGeom prst="rect">
            <a:avLst/>
          </a:prstGeom>
        </p:spPr>
      </p:pic>
    </p:spTree>
    <p:extLst>
      <p:ext uri="{BB962C8B-B14F-4D97-AF65-F5344CB8AC3E}">
        <p14:creationId xmlns:p14="http://schemas.microsoft.com/office/powerpoint/2010/main" val="2686226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425FF-FD8D-FB69-04A5-4A26F2BD3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64425-F215-B8FA-5F9C-0681A6592C4A}"/>
              </a:ext>
            </a:extLst>
          </p:cNvPr>
          <p:cNvSpPr>
            <a:spLocks noGrp="1"/>
          </p:cNvSpPr>
          <p:nvPr>
            <p:ph type="title"/>
          </p:nvPr>
        </p:nvSpPr>
        <p:spPr>
          <a:xfrm>
            <a:off x="1143000" y="281796"/>
            <a:ext cx="9875520" cy="879895"/>
          </a:xfrm>
        </p:spPr>
        <p:txBody>
          <a:bodyPr>
            <a:normAutofit/>
          </a:bodyPr>
          <a:lstStyle/>
          <a:p>
            <a:pPr algn="ctr"/>
            <a:r>
              <a:rPr lang="en-IN" b="1" dirty="0">
                <a:solidFill>
                  <a:srgbClr val="0C6890"/>
                </a:solidFill>
                <a:latin typeface="Times New Roman" panose="02020603050405020304" pitchFamily="18" charset="0"/>
                <a:cs typeface="Times New Roman" panose="02020603050405020304" pitchFamily="18" charset="0"/>
              </a:rPr>
              <a:t>Total Revenue by Month</a:t>
            </a:r>
          </a:p>
        </p:txBody>
      </p:sp>
      <p:sp>
        <p:nvSpPr>
          <p:cNvPr id="3" name="Content Placeholder 2">
            <a:extLst>
              <a:ext uri="{FF2B5EF4-FFF2-40B4-BE49-F238E27FC236}">
                <a16:creationId xmlns:a16="http://schemas.microsoft.com/office/drawing/2014/main" id="{F224E98E-D9EA-B3CD-E3E9-30396DADA04F}"/>
              </a:ext>
            </a:extLst>
          </p:cNvPr>
          <p:cNvSpPr>
            <a:spLocks noGrp="1"/>
          </p:cNvSpPr>
          <p:nvPr>
            <p:ph idx="1"/>
          </p:nvPr>
        </p:nvSpPr>
        <p:spPr>
          <a:xfrm>
            <a:off x="6182264" y="1161692"/>
            <a:ext cx="5568830" cy="5141342"/>
          </a:xfrm>
        </p:spPr>
        <p:txBody>
          <a:bodyPr>
            <a:noAutofit/>
          </a:bodyPr>
          <a:lstStyle/>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Revenue is highest in January (10.1M), indicating strong sales at the beginning of the year.</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A noticeable drop occurs in February, suggesting seasonal variation or lower demand.</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A significant drop is observed in June (8.1M), showing a mid-year slowdown.</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Sales remain relatively stable between March and May, maintaining consistent performance.</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Revenue slightly improves toward the end of the year, especially in October and December, suggesting seasonal demand impact.</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78E7F8E-7199-86E6-B8E0-A9D323BA9A67}"/>
              </a:ext>
            </a:extLst>
          </p:cNvPr>
          <p:cNvPicPr>
            <a:picLocks noChangeAspect="1"/>
          </p:cNvPicPr>
          <p:nvPr/>
        </p:nvPicPr>
        <p:blipFill>
          <a:blip r:embed="rId2"/>
          <a:stretch>
            <a:fillRect/>
          </a:stretch>
        </p:blipFill>
        <p:spPr>
          <a:xfrm>
            <a:off x="299049" y="1650521"/>
            <a:ext cx="5710688" cy="4293079"/>
          </a:xfrm>
          <a:prstGeom prst="rect">
            <a:avLst/>
          </a:prstGeom>
        </p:spPr>
      </p:pic>
    </p:spTree>
    <p:extLst>
      <p:ext uri="{BB962C8B-B14F-4D97-AF65-F5344CB8AC3E}">
        <p14:creationId xmlns:p14="http://schemas.microsoft.com/office/powerpoint/2010/main" val="4163294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ABC61-7FF4-5609-DB06-5B0768EF6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D7878-A458-60A8-21B5-A0076499B19B}"/>
              </a:ext>
            </a:extLst>
          </p:cNvPr>
          <p:cNvSpPr>
            <a:spLocks noGrp="1"/>
          </p:cNvSpPr>
          <p:nvPr>
            <p:ph type="title"/>
          </p:nvPr>
        </p:nvSpPr>
        <p:spPr>
          <a:xfrm>
            <a:off x="1143000" y="281796"/>
            <a:ext cx="9875520" cy="879895"/>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Total Revenue by Product Category</a:t>
            </a:r>
          </a:p>
        </p:txBody>
      </p:sp>
      <p:sp>
        <p:nvSpPr>
          <p:cNvPr id="3" name="Content Placeholder 2">
            <a:extLst>
              <a:ext uri="{FF2B5EF4-FFF2-40B4-BE49-F238E27FC236}">
                <a16:creationId xmlns:a16="http://schemas.microsoft.com/office/drawing/2014/main" id="{3A4FB92D-6665-A8C6-97E4-3485E679E2A7}"/>
              </a:ext>
            </a:extLst>
          </p:cNvPr>
          <p:cNvSpPr>
            <a:spLocks noGrp="1"/>
          </p:cNvSpPr>
          <p:nvPr>
            <p:ph idx="1"/>
          </p:nvPr>
        </p:nvSpPr>
        <p:spPr>
          <a:xfrm>
            <a:off x="5791200" y="1161692"/>
            <a:ext cx="5959894" cy="5141342"/>
          </a:xfrm>
        </p:spPr>
        <p:txBody>
          <a:bodyPr>
            <a:noAutofit/>
          </a:bodyPr>
          <a:lstStyle/>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The Phones and Tablet category generates the highest revenue at 39M, making it the top-performing category for the company.</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Electronics follows closely with 33M in revenue, indicating strong customer demand in technology related products.</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The remaining categories — Fashion, Health and Beauty, and Home and Office — each generate 12M, significantly lower compared to the top two categories.</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Lower-performing categories present an opportunity for growth through targeted marketing, discounts, product bundling, and improved customer engagement strategies.</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AAE944F-AFEC-164F-E576-8F4F74AA1000}"/>
              </a:ext>
            </a:extLst>
          </p:cNvPr>
          <p:cNvPicPr>
            <a:picLocks noChangeAspect="1"/>
          </p:cNvPicPr>
          <p:nvPr/>
        </p:nvPicPr>
        <p:blipFill>
          <a:blip r:embed="rId2"/>
          <a:stretch>
            <a:fillRect/>
          </a:stretch>
        </p:blipFill>
        <p:spPr>
          <a:xfrm>
            <a:off x="440906" y="1805796"/>
            <a:ext cx="5149011" cy="4307457"/>
          </a:xfrm>
          <a:prstGeom prst="rect">
            <a:avLst/>
          </a:prstGeom>
        </p:spPr>
      </p:pic>
    </p:spTree>
    <p:extLst>
      <p:ext uri="{BB962C8B-B14F-4D97-AF65-F5344CB8AC3E}">
        <p14:creationId xmlns:p14="http://schemas.microsoft.com/office/powerpoint/2010/main" val="3216642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057CD-10B6-3472-9065-53ABCF3C5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929A6-7D72-9ABB-A325-F794C30A9E68}"/>
              </a:ext>
            </a:extLst>
          </p:cNvPr>
          <p:cNvSpPr>
            <a:spLocks noGrp="1"/>
          </p:cNvSpPr>
          <p:nvPr>
            <p:ph type="title"/>
          </p:nvPr>
        </p:nvSpPr>
        <p:spPr>
          <a:xfrm>
            <a:off x="1143000" y="281796"/>
            <a:ext cx="9875520" cy="879895"/>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Customer Rating by Product Category</a:t>
            </a:r>
          </a:p>
        </p:txBody>
      </p:sp>
      <p:sp>
        <p:nvSpPr>
          <p:cNvPr id="3" name="Content Placeholder 2">
            <a:extLst>
              <a:ext uri="{FF2B5EF4-FFF2-40B4-BE49-F238E27FC236}">
                <a16:creationId xmlns:a16="http://schemas.microsoft.com/office/drawing/2014/main" id="{0EA42512-9EE7-BB3B-07D7-C54C59BBE194}"/>
              </a:ext>
            </a:extLst>
          </p:cNvPr>
          <p:cNvSpPr>
            <a:spLocks noGrp="1"/>
          </p:cNvSpPr>
          <p:nvPr>
            <p:ph idx="1"/>
          </p:nvPr>
        </p:nvSpPr>
        <p:spPr>
          <a:xfrm>
            <a:off x="6182264" y="1161692"/>
            <a:ext cx="5568830" cy="5141342"/>
          </a:xfrm>
        </p:spPr>
        <p:txBody>
          <a:bodyPr>
            <a:noAutofit/>
          </a:bodyPr>
          <a:lstStyle/>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Health &amp; Beauty and Fashion categories have the highest number of customer ratings, indicating strong customer engagement and usage.</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Phones &amp; Tablets and Home &amp; Office show moderate satisfaction levels, suggesting stable but comparatively lower customer interaction.</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Electronics category has the lowest rating count, which may indicate lower demand or fewer customer reviews.</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Overall, most ratings fall in the mid-to-high range, showing generally positive customer satisfaction across categories.</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D1797CC-65EB-E8C3-D6A3-59746AAB56D0}"/>
              </a:ext>
            </a:extLst>
          </p:cNvPr>
          <p:cNvPicPr>
            <a:picLocks noChangeAspect="1"/>
          </p:cNvPicPr>
          <p:nvPr/>
        </p:nvPicPr>
        <p:blipFill>
          <a:blip r:embed="rId2"/>
          <a:stretch>
            <a:fillRect/>
          </a:stretch>
        </p:blipFill>
        <p:spPr>
          <a:xfrm>
            <a:off x="391064" y="1339971"/>
            <a:ext cx="5568830" cy="4756030"/>
          </a:xfrm>
          <a:prstGeom prst="rect">
            <a:avLst/>
          </a:prstGeom>
        </p:spPr>
      </p:pic>
    </p:spTree>
    <p:extLst>
      <p:ext uri="{BB962C8B-B14F-4D97-AF65-F5344CB8AC3E}">
        <p14:creationId xmlns:p14="http://schemas.microsoft.com/office/powerpoint/2010/main" val="4233642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6903A-2CA9-1880-433D-EB9BA1BEE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0ED01-DD9A-8441-9A34-0D2EAEB9E336}"/>
              </a:ext>
            </a:extLst>
          </p:cNvPr>
          <p:cNvSpPr>
            <a:spLocks noGrp="1"/>
          </p:cNvSpPr>
          <p:nvPr>
            <p:ph type="title"/>
          </p:nvPr>
        </p:nvSpPr>
        <p:spPr>
          <a:xfrm>
            <a:off x="1143000" y="281796"/>
            <a:ext cx="9875520" cy="879895"/>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Total Revenue by Customer Category</a:t>
            </a:r>
          </a:p>
        </p:txBody>
      </p:sp>
      <p:sp>
        <p:nvSpPr>
          <p:cNvPr id="3" name="Content Placeholder 2">
            <a:extLst>
              <a:ext uri="{FF2B5EF4-FFF2-40B4-BE49-F238E27FC236}">
                <a16:creationId xmlns:a16="http://schemas.microsoft.com/office/drawing/2014/main" id="{61BECC8E-B259-D7E7-638F-433F8F711060}"/>
              </a:ext>
            </a:extLst>
          </p:cNvPr>
          <p:cNvSpPr>
            <a:spLocks noGrp="1"/>
          </p:cNvSpPr>
          <p:nvPr>
            <p:ph idx="1"/>
          </p:nvPr>
        </p:nvSpPr>
        <p:spPr>
          <a:xfrm>
            <a:off x="5681932" y="1035170"/>
            <a:ext cx="6069162" cy="5267864"/>
          </a:xfrm>
        </p:spPr>
        <p:txBody>
          <a:bodyPr>
            <a:noAutofit/>
          </a:bodyPr>
          <a:lstStyle/>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Bronze customers generate the highest revenue (30M), mainly because they represent the largest customer base (87K customers).</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Although Gold and Platinum have fewer customers (7K and 3K), they still contribute significant revenue, indicating higher spending per customer.</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Silver customers (15K) contribute moderate revenue (26M), suggesting stable but not premium spending behavior.</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This shows that Bronze drives revenue through volume, while Gold and Platinum drive revenue through higher individual purchase value, making both segments strategically important.</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3D9E809-5E53-2C80-AFB7-35C0925C6010}"/>
              </a:ext>
            </a:extLst>
          </p:cNvPr>
          <p:cNvPicPr>
            <a:picLocks noChangeAspect="1"/>
          </p:cNvPicPr>
          <p:nvPr/>
        </p:nvPicPr>
        <p:blipFill>
          <a:blip r:embed="rId2"/>
          <a:stretch>
            <a:fillRect/>
          </a:stretch>
        </p:blipFill>
        <p:spPr>
          <a:xfrm>
            <a:off x="440907" y="1685026"/>
            <a:ext cx="5183516" cy="4065917"/>
          </a:xfrm>
          <a:prstGeom prst="rect">
            <a:avLst/>
          </a:prstGeom>
        </p:spPr>
      </p:pic>
    </p:spTree>
    <p:extLst>
      <p:ext uri="{BB962C8B-B14F-4D97-AF65-F5344CB8AC3E}">
        <p14:creationId xmlns:p14="http://schemas.microsoft.com/office/powerpoint/2010/main" val="3412597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51E95-08BB-E67E-2422-429358807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79012-1CA7-3397-FAFB-4A5589F99774}"/>
              </a:ext>
            </a:extLst>
          </p:cNvPr>
          <p:cNvSpPr>
            <a:spLocks noGrp="1"/>
          </p:cNvSpPr>
          <p:nvPr>
            <p:ph type="title"/>
          </p:nvPr>
        </p:nvSpPr>
        <p:spPr>
          <a:xfrm>
            <a:off x="1143000" y="281796"/>
            <a:ext cx="9875520" cy="879895"/>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Average Delivery Days by Delivery Type</a:t>
            </a:r>
          </a:p>
        </p:txBody>
      </p:sp>
      <p:sp>
        <p:nvSpPr>
          <p:cNvPr id="3" name="Content Placeholder 2">
            <a:extLst>
              <a:ext uri="{FF2B5EF4-FFF2-40B4-BE49-F238E27FC236}">
                <a16:creationId xmlns:a16="http://schemas.microsoft.com/office/drawing/2014/main" id="{CA99EA84-813C-38D9-57B1-FBE31B467652}"/>
              </a:ext>
            </a:extLst>
          </p:cNvPr>
          <p:cNvSpPr>
            <a:spLocks noGrp="1"/>
          </p:cNvSpPr>
          <p:nvPr>
            <p:ph idx="1"/>
          </p:nvPr>
        </p:nvSpPr>
        <p:spPr>
          <a:xfrm>
            <a:off x="5842958" y="1414732"/>
            <a:ext cx="5908136" cy="4888302"/>
          </a:xfrm>
        </p:spPr>
        <p:txBody>
          <a:bodyPr>
            <a:noAutofit/>
          </a:bodyPr>
          <a:lstStyle/>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Orders shipped from abroad take the longest time (15 days), which may affect customer satisfaction due to delayed delivery.</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Standard delivery takes around 10 days, offering a balanced option between cost and delivery time.</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Express delivery is the fastest (around 3.5 days), making it the preferred option for urgent purchases.</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Improving international logistics and promoting express delivery options can help enhance overall customer experience.</a:t>
            </a:r>
          </a:p>
        </p:txBody>
      </p:sp>
      <p:pic>
        <p:nvPicPr>
          <p:cNvPr id="5" name="Picture 4">
            <a:extLst>
              <a:ext uri="{FF2B5EF4-FFF2-40B4-BE49-F238E27FC236}">
                <a16:creationId xmlns:a16="http://schemas.microsoft.com/office/drawing/2014/main" id="{E6EA27C6-8730-88DF-EF67-FE7DBE1921F6}"/>
              </a:ext>
            </a:extLst>
          </p:cNvPr>
          <p:cNvPicPr>
            <a:picLocks noChangeAspect="1"/>
          </p:cNvPicPr>
          <p:nvPr/>
        </p:nvPicPr>
        <p:blipFill>
          <a:blip r:embed="rId2"/>
          <a:stretch>
            <a:fillRect/>
          </a:stretch>
        </p:blipFill>
        <p:spPr>
          <a:xfrm>
            <a:off x="552090" y="1604513"/>
            <a:ext cx="4859547" cy="4376468"/>
          </a:xfrm>
          <a:prstGeom prst="rect">
            <a:avLst/>
          </a:prstGeom>
        </p:spPr>
      </p:pic>
    </p:spTree>
    <p:extLst>
      <p:ext uri="{BB962C8B-B14F-4D97-AF65-F5344CB8AC3E}">
        <p14:creationId xmlns:p14="http://schemas.microsoft.com/office/powerpoint/2010/main" val="290462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AFE0C-D881-6A13-A35D-F0E167018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70242-76EF-4746-8DCF-49B71A548905}"/>
              </a:ext>
            </a:extLst>
          </p:cNvPr>
          <p:cNvSpPr>
            <a:spLocks noGrp="1"/>
          </p:cNvSpPr>
          <p:nvPr>
            <p:ph type="title"/>
          </p:nvPr>
        </p:nvSpPr>
        <p:spPr>
          <a:xfrm>
            <a:off x="1143000" y="281796"/>
            <a:ext cx="9875520" cy="879895"/>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Revenue Distribution by Location</a:t>
            </a:r>
          </a:p>
        </p:txBody>
      </p:sp>
      <p:sp>
        <p:nvSpPr>
          <p:cNvPr id="3" name="Content Placeholder 2">
            <a:extLst>
              <a:ext uri="{FF2B5EF4-FFF2-40B4-BE49-F238E27FC236}">
                <a16:creationId xmlns:a16="http://schemas.microsoft.com/office/drawing/2014/main" id="{B2D9541C-1607-8237-F611-105F0BC5DB95}"/>
              </a:ext>
            </a:extLst>
          </p:cNvPr>
          <p:cNvSpPr>
            <a:spLocks noGrp="1"/>
          </p:cNvSpPr>
          <p:nvPr>
            <p:ph idx="1"/>
          </p:nvPr>
        </p:nvSpPr>
        <p:spPr>
          <a:xfrm>
            <a:off x="5607170" y="1035171"/>
            <a:ext cx="6143924" cy="5267864"/>
          </a:xfrm>
        </p:spPr>
        <p:txBody>
          <a:bodyPr>
            <a:noAutofit/>
          </a:bodyPr>
          <a:lstStyle/>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Greater Accra and Ashanti generate the highest revenue, indicating these regions are key contributors to overall sales performance.</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Western and Weija show moderate revenue contribution, suggesting steady demand but with potential for further growth.</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Upper West records the lowest revenue among the top locations, highlighting an opportunity for targeted marketing and expansion.</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The visualization shows revenue is concentrated in specific regions, especially in Africa, indicating strong regional demand and market presence.</a:t>
            </a:r>
          </a:p>
        </p:txBody>
      </p:sp>
      <p:pic>
        <p:nvPicPr>
          <p:cNvPr id="10" name="Picture 9">
            <a:extLst>
              <a:ext uri="{FF2B5EF4-FFF2-40B4-BE49-F238E27FC236}">
                <a16:creationId xmlns:a16="http://schemas.microsoft.com/office/drawing/2014/main" id="{48EC454C-6DF1-BE48-D4D3-C339443E1AD7}"/>
              </a:ext>
            </a:extLst>
          </p:cNvPr>
          <p:cNvPicPr>
            <a:picLocks noChangeAspect="1"/>
          </p:cNvPicPr>
          <p:nvPr/>
        </p:nvPicPr>
        <p:blipFill>
          <a:blip r:embed="rId2"/>
          <a:stretch>
            <a:fillRect/>
          </a:stretch>
        </p:blipFill>
        <p:spPr>
          <a:xfrm>
            <a:off x="440906" y="1629722"/>
            <a:ext cx="5085751" cy="4458322"/>
          </a:xfrm>
          <a:prstGeom prst="rect">
            <a:avLst/>
          </a:prstGeom>
        </p:spPr>
      </p:pic>
    </p:spTree>
    <p:extLst>
      <p:ext uri="{BB962C8B-B14F-4D97-AF65-F5344CB8AC3E}">
        <p14:creationId xmlns:p14="http://schemas.microsoft.com/office/powerpoint/2010/main" val="3178614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EE485-7296-A88B-4EAC-3F23C537B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3D979-7684-352B-DD9A-1C0B1560D6EA}"/>
              </a:ext>
            </a:extLst>
          </p:cNvPr>
          <p:cNvSpPr>
            <a:spLocks noGrp="1"/>
          </p:cNvSpPr>
          <p:nvPr>
            <p:ph type="title"/>
          </p:nvPr>
        </p:nvSpPr>
        <p:spPr>
          <a:xfrm>
            <a:off x="1143000" y="281796"/>
            <a:ext cx="9875520" cy="879895"/>
          </a:xfrm>
        </p:spPr>
        <p:txBody>
          <a:bodyPr/>
          <a:lstStyle/>
          <a:p>
            <a:pPr algn="ctr"/>
            <a:r>
              <a:rPr lang="en-IN" b="1" dirty="0">
                <a:solidFill>
                  <a:srgbClr val="0C6890"/>
                </a:solidFill>
                <a:latin typeface="Times New Roman" panose="02020603050405020304" pitchFamily="18" charset="0"/>
                <a:cs typeface="Times New Roman" panose="02020603050405020304" pitchFamily="18" charset="0"/>
              </a:rPr>
              <a:t>Count of Orders by Rating</a:t>
            </a:r>
          </a:p>
        </p:txBody>
      </p:sp>
      <p:sp>
        <p:nvSpPr>
          <p:cNvPr id="3" name="Content Placeholder 2">
            <a:extLst>
              <a:ext uri="{FF2B5EF4-FFF2-40B4-BE49-F238E27FC236}">
                <a16:creationId xmlns:a16="http://schemas.microsoft.com/office/drawing/2014/main" id="{0E91697E-4F97-835F-0CE9-D7D1482F9D3A}"/>
              </a:ext>
            </a:extLst>
          </p:cNvPr>
          <p:cNvSpPr>
            <a:spLocks noGrp="1"/>
          </p:cNvSpPr>
          <p:nvPr>
            <p:ph idx="1"/>
          </p:nvPr>
        </p:nvSpPr>
        <p:spPr>
          <a:xfrm>
            <a:off x="5980980" y="1483743"/>
            <a:ext cx="5770113" cy="4819292"/>
          </a:xfrm>
        </p:spPr>
        <p:txBody>
          <a:bodyPr>
            <a:noAutofit/>
          </a:bodyPr>
          <a:lstStyle/>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Most orders fall under ratings 1, 2, and 3, indicating a large portion of customers are giving average or low satisfaction scores.</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Higher ratings (4 and 5) have fewer orders, suggesting comparatively lower customer satisfaction levels.</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The drop from rating 3 to 4 and 5 highlights a gap in positive customer experience.</a:t>
            </a:r>
          </a:p>
          <a:p>
            <a:pPr marL="285750" indent="-285750"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Improving product quality, delivery time, and service can help increase higher ratings and overall customer satisfaction.</a:t>
            </a:r>
          </a:p>
        </p:txBody>
      </p:sp>
      <p:pic>
        <p:nvPicPr>
          <p:cNvPr id="5" name="Picture 4">
            <a:extLst>
              <a:ext uri="{FF2B5EF4-FFF2-40B4-BE49-F238E27FC236}">
                <a16:creationId xmlns:a16="http://schemas.microsoft.com/office/drawing/2014/main" id="{754629D8-BEC8-1A52-BCEE-BD13FAA773A7}"/>
              </a:ext>
            </a:extLst>
          </p:cNvPr>
          <p:cNvPicPr>
            <a:picLocks noChangeAspect="1"/>
          </p:cNvPicPr>
          <p:nvPr/>
        </p:nvPicPr>
        <p:blipFill>
          <a:blip r:embed="rId2"/>
          <a:stretch>
            <a:fillRect/>
          </a:stretch>
        </p:blipFill>
        <p:spPr>
          <a:xfrm>
            <a:off x="440906" y="1582189"/>
            <a:ext cx="5338792" cy="4429743"/>
          </a:xfrm>
          <a:prstGeom prst="rect">
            <a:avLst/>
          </a:prstGeom>
        </p:spPr>
      </p:pic>
    </p:spTree>
    <p:extLst>
      <p:ext uri="{BB962C8B-B14F-4D97-AF65-F5344CB8AC3E}">
        <p14:creationId xmlns:p14="http://schemas.microsoft.com/office/powerpoint/2010/main" val="1226365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7DB2A-73FE-12B2-148C-B8E6E8D61E9A}"/>
              </a:ext>
            </a:extLst>
          </p:cNvPr>
          <p:cNvSpPr>
            <a:spLocks noGrp="1"/>
          </p:cNvSpPr>
          <p:nvPr>
            <p:ph type="title"/>
          </p:nvPr>
        </p:nvSpPr>
        <p:spPr>
          <a:xfrm>
            <a:off x="6272842" y="2869720"/>
            <a:ext cx="3043687" cy="1356360"/>
          </a:xfrm>
        </p:spPr>
        <p:txBody>
          <a:bodyPr>
            <a:normAutofit/>
          </a:bodyPr>
          <a:lstStyle/>
          <a:p>
            <a:pPr algn="ctr"/>
            <a:r>
              <a:rPr lang="en-IN" sz="6000" b="1" dirty="0">
                <a:latin typeface="Times New Roman" panose="02020603050405020304" pitchFamily="18" charset="0"/>
                <a:cs typeface="Times New Roman" panose="02020603050405020304" pitchFamily="18" charset="0"/>
              </a:rPr>
              <a:t>Reports</a:t>
            </a:r>
          </a:p>
        </p:txBody>
      </p:sp>
      <p:pic>
        <p:nvPicPr>
          <p:cNvPr id="5122" name="Picture 2" descr="Report - Free marketing icons">
            <a:extLst>
              <a:ext uri="{FF2B5EF4-FFF2-40B4-BE49-F238E27FC236}">
                <a16:creationId xmlns:a16="http://schemas.microsoft.com/office/drawing/2014/main" id="{9F6FF77B-0B4E-EADD-AC24-26873C02C1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336" y="1272397"/>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974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EFEC28-CF92-E13B-B119-192C2C054AA7}"/>
              </a:ext>
            </a:extLst>
          </p:cNvPr>
          <p:cNvPicPr>
            <a:picLocks noChangeAspect="1"/>
          </p:cNvPicPr>
          <p:nvPr/>
        </p:nvPicPr>
        <p:blipFill>
          <a:blip r:embed="rId2"/>
          <a:stretch>
            <a:fillRect/>
          </a:stretch>
        </p:blipFill>
        <p:spPr>
          <a:xfrm>
            <a:off x="235790" y="230038"/>
            <a:ext cx="11726172" cy="6383547"/>
          </a:xfrm>
          <a:prstGeom prst="rect">
            <a:avLst/>
          </a:prstGeom>
        </p:spPr>
      </p:pic>
    </p:spTree>
    <p:extLst>
      <p:ext uri="{BB962C8B-B14F-4D97-AF65-F5344CB8AC3E}">
        <p14:creationId xmlns:p14="http://schemas.microsoft.com/office/powerpoint/2010/main" val="147594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2BFE2-879F-E90A-B7BC-D25B874D7C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1464BA-4CC2-BB49-6B55-BF86F93A33B9}"/>
              </a:ext>
            </a:extLst>
          </p:cNvPr>
          <p:cNvPicPr>
            <a:picLocks noChangeAspect="1"/>
          </p:cNvPicPr>
          <p:nvPr/>
        </p:nvPicPr>
        <p:blipFill>
          <a:blip r:embed="rId2"/>
          <a:stretch>
            <a:fillRect/>
          </a:stretch>
        </p:blipFill>
        <p:spPr>
          <a:xfrm>
            <a:off x="218536" y="247291"/>
            <a:ext cx="11743426" cy="6377796"/>
          </a:xfrm>
          <a:prstGeom prst="rect">
            <a:avLst/>
          </a:prstGeom>
        </p:spPr>
      </p:pic>
    </p:spTree>
    <p:extLst>
      <p:ext uri="{BB962C8B-B14F-4D97-AF65-F5344CB8AC3E}">
        <p14:creationId xmlns:p14="http://schemas.microsoft.com/office/powerpoint/2010/main" val="1127046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A1A9DC-3C74-2706-9902-FE3038C6D250}"/>
              </a:ext>
            </a:extLst>
          </p:cNvPr>
          <p:cNvPicPr>
            <a:picLocks noChangeAspect="1"/>
          </p:cNvPicPr>
          <p:nvPr/>
        </p:nvPicPr>
        <p:blipFill>
          <a:blip r:embed="rId2"/>
          <a:stretch>
            <a:fillRect/>
          </a:stretch>
        </p:blipFill>
        <p:spPr>
          <a:xfrm>
            <a:off x="201283" y="224286"/>
            <a:ext cx="11766429" cy="6400801"/>
          </a:xfrm>
          <a:prstGeom prst="rect">
            <a:avLst/>
          </a:prstGeom>
        </p:spPr>
      </p:pic>
    </p:spTree>
    <p:extLst>
      <p:ext uri="{BB962C8B-B14F-4D97-AF65-F5344CB8AC3E}">
        <p14:creationId xmlns:p14="http://schemas.microsoft.com/office/powerpoint/2010/main" val="125729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3C6CC-76D3-005D-7051-B618C14A91E0}"/>
              </a:ext>
            </a:extLst>
          </p:cNvPr>
          <p:cNvSpPr>
            <a:spLocks noGrp="1"/>
          </p:cNvSpPr>
          <p:nvPr>
            <p:ph type="title"/>
          </p:nvPr>
        </p:nvSpPr>
        <p:spPr>
          <a:xfrm>
            <a:off x="1143000" y="184030"/>
            <a:ext cx="9875520" cy="822385"/>
          </a:xfrm>
        </p:spPr>
        <p:txBody>
          <a:bodyPr/>
          <a:lstStyle/>
          <a:p>
            <a:pPr algn="ctr"/>
            <a:r>
              <a:rPr lang="en-IN" b="1" dirty="0">
                <a:latin typeface="Times New Roman" panose="02020603050405020304" pitchFamily="18" charset="0"/>
                <a:cs typeface="Times New Roman" panose="02020603050405020304" pitchFamily="18" charset="0"/>
              </a:rPr>
              <a:t>Strategic Recommendations</a:t>
            </a:r>
          </a:p>
        </p:txBody>
      </p:sp>
      <p:sp>
        <p:nvSpPr>
          <p:cNvPr id="3" name="Content Placeholder 2">
            <a:extLst>
              <a:ext uri="{FF2B5EF4-FFF2-40B4-BE49-F238E27FC236}">
                <a16:creationId xmlns:a16="http://schemas.microsoft.com/office/drawing/2014/main" id="{9DCEBFEC-4258-C855-7B59-0FE8B44FE72A}"/>
              </a:ext>
            </a:extLst>
          </p:cNvPr>
          <p:cNvSpPr>
            <a:spLocks noGrp="1"/>
          </p:cNvSpPr>
          <p:nvPr>
            <p:ph idx="1"/>
          </p:nvPr>
        </p:nvSpPr>
        <p:spPr>
          <a:xfrm>
            <a:off x="339305" y="1086928"/>
            <a:ext cx="11559397" cy="5382882"/>
          </a:xfrm>
        </p:spPr>
        <p:txBody>
          <a:bodyPr>
            <a:noAutofit/>
          </a:bodyPr>
          <a:lstStyle/>
          <a:p>
            <a:pPr algn="just">
              <a:lnSpc>
                <a:spcPct val="135000"/>
              </a:lnSpc>
            </a:pPr>
            <a:r>
              <a:rPr lang="en-US" sz="1600" dirty="0">
                <a:solidFill>
                  <a:schemeClr val="tx1"/>
                </a:solidFill>
                <a:latin typeface="Times New Roman" panose="02020603050405020304" pitchFamily="18" charset="0"/>
                <a:cs typeface="Times New Roman" panose="02020603050405020304" pitchFamily="18" charset="0"/>
              </a:rPr>
              <a:t>Focus on high-performing categories like Phones, Tablets, and Electronics by maintaining inventory, competitive pricing, and targeted promotions to maximize revenue.</a:t>
            </a:r>
          </a:p>
          <a:p>
            <a:pPr algn="just">
              <a:lnSpc>
                <a:spcPct val="135000"/>
              </a:lnSpc>
            </a:pPr>
            <a:r>
              <a:rPr lang="en-US" sz="1600" dirty="0">
                <a:solidFill>
                  <a:schemeClr val="tx1"/>
                </a:solidFill>
                <a:latin typeface="Times New Roman" panose="02020603050405020304" pitchFamily="18" charset="0"/>
                <a:cs typeface="Times New Roman" panose="02020603050405020304" pitchFamily="18" charset="0"/>
              </a:rPr>
              <a:t>Improve low-performing categories such as Fashion, Home &amp; Office, and Health &amp; Beauty through discounts, better product visibility, and personalized marketing campaigns.</a:t>
            </a:r>
          </a:p>
          <a:p>
            <a:pPr algn="just">
              <a:lnSpc>
                <a:spcPct val="135000"/>
              </a:lnSpc>
            </a:pPr>
            <a:r>
              <a:rPr lang="en-US" sz="1600" dirty="0">
                <a:solidFill>
                  <a:schemeClr val="tx1"/>
                </a:solidFill>
                <a:latin typeface="Times New Roman" panose="02020603050405020304" pitchFamily="18" charset="0"/>
                <a:cs typeface="Times New Roman" panose="02020603050405020304" pitchFamily="18" charset="0"/>
              </a:rPr>
              <a:t>Enhance customer satisfaction by addressing product quality issues, improving delivery timelines, and strengthening after-sales support.</a:t>
            </a:r>
          </a:p>
          <a:p>
            <a:pPr algn="just">
              <a:lnSpc>
                <a:spcPct val="135000"/>
              </a:lnSpc>
            </a:pPr>
            <a:r>
              <a:rPr lang="en-US" sz="1600" dirty="0">
                <a:solidFill>
                  <a:schemeClr val="tx1"/>
                </a:solidFill>
                <a:latin typeface="Times New Roman" panose="02020603050405020304" pitchFamily="18" charset="0"/>
                <a:cs typeface="Times New Roman" panose="02020603050405020304" pitchFamily="18" charset="0"/>
              </a:rPr>
              <a:t>Promote Express delivery options and optimize international shipping processes to reduce delivery time and improve customer experience.</a:t>
            </a:r>
          </a:p>
          <a:p>
            <a:pPr algn="just">
              <a:lnSpc>
                <a:spcPct val="135000"/>
              </a:lnSpc>
            </a:pPr>
            <a:r>
              <a:rPr lang="en-US" sz="1600" dirty="0">
                <a:solidFill>
                  <a:schemeClr val="tx1"/>
                </a:solidFill>
                <a:latin typeface="Times New Roman" panose="02020603050405020304" pitchFamily="18" charset="0"/>
                <a:cs typeface="Times New Roman" panose="02020603050405020304" pitchFamily="18" charset="0"/>
              </a:rPr>
              <a:t>Implement loyalty programs and personalized offers for Bronze, repeat customers to increase retention and lifetime value.</a:t>
            </a:r>
          </a:p>
          <a:p>
            <a:pPr algn="just">
              <a:lnSpc>
                <a:spcPct val="135000"/>
              </a:lnSpc>
            </a:pPr>
            <a:r>
              <a:rPr lang="en-US" sz="1600" dirty="0">
                <a:solidFill>
                  <a:schemeClr val="tx1"/>
                </a:solidFill>
                <a:latin typeface="Times New Roman" panose="02020603050405020304" pitchFamily="18" charset="0"/>
                <a:cs typeface="Times New Roman" panose="02020603050405020304" pitchFamily="18" charset="0"/>
              </a:rPr>
              <a:t>Expand operations in high-revenue locations and strengthen marketing efforts in low-performing regions to balance geographic sales distribution.</a:t>
            </a:r>
          </a:p>
          <a:p>
            <a:pPr algn="just">
              <a:lnSpc>
                <a:spcPct val="135000"/>
              </a:lnSpc>
            </a:pPr>
            <a:r>
              <a:rPr lang="en-US" sz="1600" dirty="0">
                <a:solidFill>
                  <a:schemeClr val="tx1"/>
                </a:solidFill>
                <a:latin typeface="Times New Roman" panose="02020603050405020304" pitchFamily="18" charset="0"/>
                <a:cs typeface="Times New Roman" panose="02020603050405020304" pitchFamily="18" charset="0"/>
              </a:rPr>
              <a:t>Use customer feedback and ratings to continuously improve product offerings and service quality.</a:t>
            </a:r>
          </a:p>
          <a:p>
            <a:pPr algn="just">
              <a:lnSpc>
                <a:spcPct val="135000"/>
              </a:lnSpc>
            </a:pPr>
            <a:r>
              <a:rPr lang="en-US" sz="1600" dirty="0">
                <a:solidFill>
                  <a:schemeClr val="tx1"/>
                </a:solidFill>
                <a:latin typeface="Times New Roman" panose="02020603050405020304" pitchFamily="18" charset="0"/>
                <a:cs typeface="Times New Roman" panose="02020603050405020304" pitchFamily="18" charset="0"/>
              </a:rPr>
              <a:t>Leverage data-driven decision-making to identify trends, predict demand, and optimize pricing and promotional strategies.</a:t>
            </a:r>
          </a:p>
        </p:txBody>
      </p:sp>
    </p:spTree>
    <p:extLst>
      <p:ext uri="{BB962C8B-B14F-4D97-AF65-F5344CB8AC3E}">
        <p14:creationId xmlns:p14="http://schemas.microsoft.com/office/powerpoint/2010/main" val="618068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hankyou slide big data ppt - SlideBazaar">
            <a:extLst>
              <a:ext uri="{FF2B5EF4-FFF2-40B4-BE49-F238E27FC236}">
                <a16:creationId xmlns:a16="http://schemas.microsoft.com/office/drawing/2014/main" id="{ABAEBDEB-DBB6-1D8D-C26D-BDE4EF959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751707"/>
      </p:ext>
    </p:extLst>
  </p:cSld>
  <p:clrMapOvr>
    <a:masterClrMapping/>
  </p:clrMapOvr>
</p:sld>
</file>

<file path=ppt/theme/theme1.xml><?xml version="1.0" encoding="utf-8"?>
<a:theme xmlns:a="http://schemas.openxmlformats.org/drawingml/2006/main" name="Basis">
  <a:themeElements>
    <a:clrScheme name="Custom 1">
      <a:dk1>
        <a:srgbClr val="000000"/>
      </a:dk1>
      <a:lt1>
        <a:sysClr val="window" lastClr="FFFFFF"/>
      </a:lt1>
      <a:dk2>
        <a:srgbClr val="5E5E5E"/>
      </a:dk2>
      <a:lt2>
        <a:srgbClr val="DDDDDD"/>
      </a:lt2>
      <a:accent1>
        <a:srgbClr val="0C6980"/>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Basis</Template>
  <TotalTime>1095</TotalTime>
  <Words>1136</Words>
  <Application>Microsoft Office PowerPoint</Application>
  <PresentationFormat>Widescreen</PresentationFormat>
  <Paragraphs>64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Corbel</vt:lpstr>
      <vt:lpstr>Times New Roman</vt:lpstr>
      <vt:lpstr>Basis</vt:lpstr>
      <vt:lpstr>PowerPoint Presentation</vt:lpstr>
      <vt:lpstr>Agenda</vt:lpstr>
      <vt:lpstr>Problem Statement</vt:lpstr>
      <vt:lpstr>Data Overview</vt:lpstr>
      <vt:lpstr>Data Cleaning &amp; Preparation</vt:lpstr>
      <vt:lpstr>Key Metrics</vt:lpstr>
      <vt:lpstr>Total Revenue by Year</vt:lpstr>
      <vt:lpstr>Total Revenue by Month</vt:lpstr>
      <vt:lpstr>Total Revenue by Product Category</vt:lpstr>
      <vt:lpstr>Customer Rating by Product Category</vt:lpstr>
      <vt:lpstr>Total Revenue by Customer Category</vt:lpstr>
      <vt:lpstr>Average Delivery Days by Delivery Type</vt:lpstr>
      <vt:lpstr>Revenue Distribution by Location</vt:lpstr>
      <vt:lpstr>Count of Orders by Rating</vt:lpstr>
      <vt:lpstr>Reports</vt:lpstr>
      <vt:lpstr>PowerPoint Presentation</vt:lpstr>
      <vt:lpstr>PowerPoint Presentation</vt:lpstr>
      <vt:lpstr>PowerPoint Presentation</vt:lpstr>
      <vt:lpstr>Strategic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YOGENDAR BHUPATHI</dc:creator>
  <cp:lastModifiedBy>YOGENDAR BHUPATHI</cp:lastModifiedBy>
  <cp:revision>2</cp:revision>
  <dcterms:created xsi:type="dcterms:W3CDTF">2026-02-22T14:26:14Z</dcterms:created>
  <dcterms:modified xsi:type="dcterms:W3CDTF">2026-02-23T08:42:00Z</dcterms:modified>
</cp:coreProperties>
</file>